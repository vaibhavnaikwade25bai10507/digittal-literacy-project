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6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31658" y="1690393"/>
            <a:ext cx="13776863" cy="7512553"/>
            <a:chOff x="0" y="0"/>
            <a:chExt cx="3628474" cy="1978615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>
                <a:solidFill>
                  <a:srgbClr val="FFFF00"/>
                </a:solidFill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1701881">
            <a:off x="15325635" y="6007065"/>
            <a:ext cx="1752722" cy="2984512"/>
          </a:xfrm>
          <a:custGeom>
            <a:avLst/>
            <a:gdLst/>
            <a:ahLst/>
            <a:cxnLst/>
            <a:rect l="l" t="t" r="r" b="b"/>
            <a:pathLst>
              <a:path w="1752722" h="2984512">
                <a:moveTo>
                  <a:pt x="0" y="0"/>
                </a:moveTo>
                <a:lnTo>
                  <a:pt x="1752722" y="0"/>
                </a:lnTo>
                <a:lnTo>
                  <a:pt x="1752722" y="2984511"/>
                </a:lnTo>
                <a:lnTo>
                  <a:pt x="0" y="29845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52279" y="3698050"/>
            <a:ext cx="11983442" cy="285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</a:pPr>
            <a:r>
              <a:rPr lang="en-US" sz="6691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DIGITAL LITERACY BASICS FOR FIRST-TIME INTERNET USERS FROM SMALL TOWNS</a:t>
            </a:r>
          </a:p>
        </p:txBody>
      </p:sp>
      <p:sp>
        <p:nvSpPr>
          <p:cNvPr id="11" name="Freeform 11"/>
          <p:cNvSpPr/>
          <p:nvPr/>
        </p:nvSpPr>
        <p:spPr>
          <a:xfrm rot="-900275">
            <a:off x="419733" y="1415097"/>
            <a:ext cx="3319587" cy="2540993"/>
          </a:xfrm>
          <a:custGeom>
            <a:avLst/>
            <a:gdLst/>
            <a:ahLst/>
            <a:cxnLst/>
            <a:rect l="l" t="t" r="r" b="b"/>
            <a:pathLst>
              <a:path w="3319587" h="2540993">
                <a:moveTo>
                  <a:pt x="0" y="0"/>
                </a:moveTo>
                <a:lnTo>
                  <a:pt x="3319587" y="0"/>
                </a:lnTo>
                <a:lnTo>
                  <a:pt x="3319587" y="2540993"/>
                </a:lnTo>
                <a:lnTo>
                  <a:pt x="0" y="2540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842015">
            <a:off x="13724661" y="859483"/>
            <a:ext cx="2489634" cy="2408155"/>
          </a:xfrm>
          <a:custGeom>
            <a:avLst/>
            <a:gdLst/>
            <a:ahLst/>
            <a:cxnLst/>
            <a:rect l="l" t="t" r="r" b="b"/>
            <a:pathLst>
              <a:path w="2489634" h="2408155">
                <a:moveTo>
                  <a:pt x="0" y="0"/>
                </a:moveTo>
                <a:lnTo>
                  <a:pt x="2489634" y="0"/>
                </a:lnTo>
                <a:lnTo>
                  <a:pt x="2489634" y="2408155"/>
                </a:lnTo>
                <a:lnTo>
                  <a:pt x="0" y="24081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237661">
            <a:off x="4370907" y="7434535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-3702187" y="8274094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10800000">
            <a:off x="15984849" y="-266700"/>
            <a:ext cx="3394476" cy="266700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38400" y="1813245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657600" y="979170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8288000" y="1257300"/>
            <a:ext cx="1697238" cy="126351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803892">
            <a:off x="931599" y="1765939"/>
            <a:ext cx="3278922" cy="3183535"/>
          </a:xfrm>
          <a:custGeom>
            <a:avLst/>
            <a:gdLst/>
            <a:ahLst/>
            <a:cxnLst/>
            <a:rect l="l" t="t" r="r" b="b"/>
            <a:pathLst>
              <a:path w="3278922" h="3183535">
                <a:moveTo>
                  <a:pt x="0" y="0"/>
                </a:moveTo>
                <a:lnTo>
                  <a:pt x="3278922" y="0"/>
                </a:lnTo>
                <a:lnTo>
                  <a:pt x="3278922" y="3183535"/>
                </a:lnTo>
                <a:lnTo>
                  <a:pt x="0" y="3183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53069" y="5143500"/>
            <a:ext cx="2935223" cy="2935223"/>
          </a:xfrm>
          <a:custGeom>
            <a:avLst/>
            <a:gdLst/>
            <a:ahLst/>
            <a:cxnLst/>
            <a:rect l="l" t="t" r="r" b="b"/>
            <a:pathLst>
              <a:path w="2935223" h="2935223">
                <a:moveTo>
                  <a:pt x="0" y="0"/>
                </a:moveTo>
                <a:lnTo>
                  <a:pt x="2935223" y="0"/>
                </a:lnTo>
                <a:lnTo>
                  <a:pt x="2935223" y="2935223"/>
                </a:lnTo>
                <a:lnTo>
                  <a:pt x="0" y="2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4383245" y="1668584"/>
            <a:ext cx="9521511" cy="2103140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 i="1" dirty="0">
                <a:solidFill>
                  <a:srgbClr val="FFC000"/>
                </a:solidFill>
                <a:latin typeface="Retropix"/>
                <a:ea typeface="Retropix"/>
                <a:cs typeface="Retropix"/>
                <a:sym typeface="Retropix"/>
              </a:rPr>
              <a:t>WHAT DIGITAL LITERACY IS?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96401" y="4139090"/>
            <a:ext cx="12095198" cy="489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</a:pPr>
            <a:r>
              <a:rPr lang="en-US" sz="370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Digital literacy is the ability to use digital devices, the internet, and online tools safely, effectively, and responsibly. It is not just about knowing how to use a mobile phone or computer, but also about understanding how to find information, communicate properly, protect personal data, and behave responsibly online.</a:t>
            </a:r>
          </a:p>
          <a:p>
            <a:pPr algn="ctr">
              <a:lnSpc>
                <a:spcPts val="4892"/>
              </a:lnSpc>
            </a:pPr>
            <a:endParaRPr lang="en-US" sz="3706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3576" y="-5454453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7273152" y="1028699"/>
            <a:ext cx="2187564" cy="2185287"/>
          </a:xfrm>
          <a:custGeom>
            <a:avLst/>
            <a:gdLst/>
            <a:ahLst/>
            <a:cxnLst/>
            <a:rect l="l" t="t" r="r" b="b"/>
            <a:pathLst>
              <a:path w="2783403" h="2783403">
                <a:moveTo>
                  <a:pt x="0" y="0"/>
                </a:moveTo>
                <a:lnTo>
                  <a:pt x="2783403" y="0"/>
                </a:lnTo>
                <a:lnTo>
                  <a:pt x="2783403" y="2783403"/>
                </a:lnTo>
                <a:lnTo>
                  <a:pt x="0" y="2783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851176" y="7820396"/>
            <a:ext cx="1584395" cy="1633122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24110" y="3050017"/>
            <a:ext cx="7527067" cy="450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endParaRPr/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digital tools like smartphones, computers, email,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Search, evaluate, and use information from the internet correctly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Communicate professionally through emails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 themselves from online threats such as scams, frauds, and cybercrime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 a positive and professional online presence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9340" y="3391510"/>
            <a:ext cx="4748412" cy="44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6372" b="1" i="1" u="sng" dirty="0">
                <a:solidFill>
                  <a:srgbClr val="00B0F0"/>
                </a:solidFill>
                <a:latin typeface="Retropix"/>
                <a:ea typeface="Retropix"/>
                <a:cs typeface="Retropix"/>
                <a:sym typeface="Retropix"/>
              </a:rPr>
              <a:t>A DIGITALLY LITERATE PERSON KNOWS HOW TO:</a:t>
            </a:r>
          </a:p>
        </p:txBody>
      </p:sp>
      <p:sp>
        <p:nvSpPr>
          <p:cNvPr id="13" name="Freeform 13"/>
          <p:cNvSpPr/>
          <p:nvPr/>
        </p:nvSpPr>
        <p:spPr>
          <a:xfrm rot="-10800000">
            <a:off x="-3553272" y="799976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8373424" y="7595814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580201" y="475392"/>
            <a:ext cx="7284552" cy="2013468"/>
            <a:chOff x="0" y="0"/>
            <a:chExt cx="2443846" cy="6754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289690" y="571598"/>
            <a:ext cx="7342442" cy="2016940"/>
            <a:chOff x="0" y="0"/>
            <a:chExt cx="2463267" cy="676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394476" y="-462045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7174582" y="11210863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33422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2" name="TextBox 12"/>
          <p:cNvSpPr txBox="1"/>
          <p:nvPr/>
        </p:nvSpPr>
        <p:spPr>
          <a:xfrm>
            <a:off x="5637193" y="501814"/>
            <a:ext cx="6858644" cy="178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61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useful digital tools for students:</a:t>
            </a:r>
          </a:p>
          <a:p>
            <a:pPr algn="l">
              <a:lnSpc>
                <a:spcPts val="3454"/>
              </a:lnSpc>
            </a:pPr>
            <a:r>
              <a:rPr lang="en-US" sz="261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helpful for first-time internet users from small towns </a:t>
            </a:r>
          </a:p>
          <a:p>
            <a:pPr algn="l">
              <a:lnSpc>
                <a:spcPts val="3454"/>
              </a:lnSpc>
            </a:pPr>
            <a:endParaRPr lang="en-US" sz="2617">
              <a:solidFill>
                <a:srgbClr val="FFFFFF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08141" y="5224490"/>
            <a:ext cx="198412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GOOGLE</a:t>
            </a:r>
          </a:p>
        </p:txBody>
      </p:sp>
      <p:sp>
        <p:nvSpPr>
          <p:cNvPr id="14" name="Freeform 14"/>
          <p:cNvSpPr/>
          <p:nvPr/>
        </p:nvSpPr>
        <p:spPr>
          <a:xfrm>
            <a:off x="733422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grpSp>
        <p:nvGrpSpPr>
          <p:cNvPr id="15" name="Group 15"/>
          <p:cNvGrpSpPr/>
          <p:nvPr/>
        </p:nvGrpSpPr>
        <p:grpSpPr>
          <a:xfrm>
            <a:off x="733422" y="3173471"/>
            <a:ext cx="5373101" cy="1485139"/>
            <a:chOff x="0" y="0"/>
            <a:chExt cx="2443846" cy="6754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6017" y="3023864"/>
            <a:ext cx="5415801" cy="1487699"/>
            <a:chOff x="0" y="0"/>
            <a:chExt cx="2463267" cy="676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630" y="3173471"/>
            <a:ext cx="5373101" cy="1485139"/>
            <a:chOff x="0" y="0"/>
            <a:chExt cx="2443846" cy="6754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57224" y="3023864"/>
            <a:ext cx="5415801" cy="1487699"/>
            <a:chOff x="0" y="0"/>
            <a:chExt cx="2463267" cy="6766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97561" y="3173471"/>
            <a:ext cx="5373101" cy="1485139"/>
            <a:chOff x="0" y="0"/>
            <a:chExt cx="2443846" cy="67548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0155" y="3023864"/>
            <a:ext cx="5415801" cy="1487699"/>
            <a:chOff x="0" y="0"/>
            <a:chExt cx="2463267" cy="6766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614630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34" name="Freeform 34"/>
          <p:cNvSpPr/>
          <p:nvPr/>
        </p:nvSpPr>
        <p:spPr>
          <a:xfrm>
            <a:off x="6614630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5" name="Freeform 35"/>
          <p:cNvSpPr/>
          <p:nvPr/>
        </p:nvSpPr>
        <p:spPr>
          <a:xfrm>
            <a:off x="12495837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6" name="Freeform 36"/>
          <p:cNvSpPr/>
          <p:nvPr/>
        </p:nvSpPr>
        <p:spPr>
          <a:xfrm>
            <a:off x="12495837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7" name="TextBox 37"/>
          <p:cNvSpPr txBox="1"/>
          <p:nvPr/>
        </p:nvSpPr>
        <p:spPr>
          <a:xfrm>
            <a:off x="816361" y="3361250"/>
            <a:ext cx="4935112" cy="55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Search &amp; Information Tools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33624" y="3113554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Communication &amp; Collaboration Tools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0500" y="3190235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Learning &amp; Skill-Building Tools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14226" y="7055763"/>
            <a:ext cx="2171957" cy="74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Wikipedia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61108" y="5211059"/>
            <a:ext cx="1421424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Gmail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0348" y="7177867"/>
            <a:ext cx="3912381" cy="53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289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Instagram/Whatsaap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76879" y="5211059"/>
            <a:ext cx="233586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YouTube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66284" y="7055763"/>
            <a:ext cx="315705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HackerRank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54798" y="108231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396333" y="8647712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8289857" y="610543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28700" y="1028700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34354" y="6390107"/>
            <a:ext cx="2724946" cy="2724946"/>
          </a:xfrm>
          <a:custGeom>
            <a:avLst/>
            <a:gdLst/>
            <a:ahLst/>
            <a:cxnLst/>
            <a:rect l="l" t="t" r="r" b="b"/>
            <a:pathLst>
              <a:path w="2724946" h="2724946">
                <a:moveTo>
                  <a:pt x="0" y="0"/>
                </a:moveTo>
                <a:lnTo>
                  <a:pt x="2724946" y="0"/>
                </a:lnTo>
                <a:lnTo>
                  <a:pt x="2724946" y="2724946"/>
                </a:lnTo>
                <a:lnTo>
                  <a:pt x="0" y="27249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2468247"/>
            <a:ext cx="9521511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 b="1" i="1" dirty="0">
                <a:solidFill>
                  <a:srgbClr val="FFFF00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60314" y="5105400"/>
            <a:ext cx="10367373" cy="2617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internet practices are the rules and habits that help users stay secure, private, and protected while using the internet. These practices are especially important for first-time internet users to avoid scams, data theft, and misuse of personal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1235136" y="1312149"/>
            <a:ext cx="85413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8425616" y="7400596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7734975"/>
            <a:ext cx="2946941" cy="3046650"/>
          </a:xfrm>
          <a:custGeom>
            <a:avLst/>
            <a:gdLst/>
            <a:ahLst/>
            <a:cxnLst/>
            <a:rect l="l" t="t" r="r" b="b"/>
            <a:pathLst>
              <a:path w="2946941" h="3046650">
                <a:moveTo>
                  <a:pt x="0" y="0"/>
                </a:moveTo>
                <a:lnTo>
                  <a:pt x="2946941" y="0"/>
                </a:lnTo>
                <a:lnTo>
                  <a:pt x="2946941" y="3046650"/>
                </a:lnTo>
                <a:lnTo>
                  <a:pt x="0" y="304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52621" y="1028700"/>
            <a:ext cx="3342979" cy="2048334"/>
          </a:xfrm>
          <a:custGeom>
            <a:avLst/>
            <a:gdLst/>
            <a:ahLst/>
            <a:cxnLst/>
            <a:rect l="l" t="t" r="r" b="b"/>
            <a:pathLst>
              <a:path w="3342979" h="2048334">
                <a:moveTo>
                  <a:pt x="0" y="0"/>
                </a:moveTo>
                <a:lnTo>
                  <a:pt x="3342978" y="0"/>
                </a:lnTo>
                <a:lnTo>
                  <a:pt x="3342978" y="2048334"/>
                </a:lnTo>
                <a:lnTo>
                  <a:pt x="0" y="20483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303308" y="2509784"/>
            <a:ext cx="10101506" cy="6247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sz="291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Strong Passwords.</a:t>
            </a: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2. Avoid Clicking Unknown Links</a:t>
            </a: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Protect Personal Information</a:t>
            </a: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Use Secure Websites</a:t>
            </a: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Keep Devices Updated</a:t>
            </a: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Verify Information Before Sharing</a:t>
            </a: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endParaRPr lang="en-US" sz="2912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59340" y="3469636"/>
            <a:ext cx="5381839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7750" b="1" i="1" u="sng" dirty="0">
                <a:solidFill>
                  <a:srgbClr val="00B050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63419" y="5205165"/>
            <a:ext cx="9214116" cy="3928579"/>
            <a:chOff x="0" y="0"/>
            <a:chExt cx="2426763" cy="1034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6763" cy="1034688"/>
            </a:xfrm>
            <a:custGeom>
              <a:avLst/>
              <a:gdLst/>
              <a:ahLst/>
              <a:cxnLst/>
              <a:rect l="l" t="t" r="r" b="b"/>
              <a:pathLst>
                <a:path w="2426763" h="1034688">
                  <a:moveTo>
                    <a:pt x="0" y="0"/>
                  </a:moveTo>
                  <a:lnTo>
                    <a:pt x="2426763" y="0"/>
                  </a:lnTo>
                  <a:lnTo>
                    <a:pt x="2426763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26763" cy="10727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3217" y="4911117"/>
            <a:ext cx="9352718" cy="3928579"/>
            <a:chOff x="0" y="0"/>
            <a:chExt cx="2463267" cy="10346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1034688"/>
            </a:xfrm>
            <a:custGeom>
              <a:avLst/>
              <a:gdLst/>
              <a:ahLst/>
              <a:cxnLst/>
              <a:rect l="l" t="t" r="r" b="b"/>
              <a:pathLst>
                <a:path w="2463267" h="1034688">
                  <a:moveTo>
                    <a:pt x="0" y="0"/>
                  </a:moveTo>
                  <a:lnTo>
                    <a:pt x="2463267" y="0"/>
                  </a:lnTo>
                  <a:lnTo>
                    <a:pt x="2463267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107278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381413" y="64770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7080214" y="1103688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5" y="0"/>
                </a:lnTo>
                <a:lnTo>
                  <a:pt x="3394475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478539" y="4209355"/>
            <a:ext cx="3550526" cy="3550526"/>
          </a:xfrm>
          <a:custGeom>
            <a:avLst/>
            <a:gdLst/>
            <a:ahLst/>
            <a:cxnLst/>
            <a:rect l="l" t="t" r="r" b="b"/>
            <a:pathLst>
              <a:path w="3550526" h="3550526">
                <a:moveTo>
                  <a:pt x="0" y="0"/>
                </a:moveTo>
                <a:lnTo>
                  <a:pt x="3550526" y="0"/>
                </a:lnTo>
                <a:lnTo>
                  <a:pt x="3550526" y="3550526"/>
                </a:lnTo>
                <a:lnTo>
                  <a:pt x="0" y="3550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748470" y="6803076"/>
            <a:ext cx="3747486" cy="3372737"/>
          </a:xfrm>
          <a:custGeom>
            <a:avLst/>
            <a:gdLst/>
            <a:ahLst/>
            <a:cxnLst/>
            <a:rect l="l" t="t" r="r" b="b"/>
            <a:pathLst>
              <a:path w="3747486" h="3372737">
                <a:moveTo>
                  <a:pt x="0" y="0"/>
                </a:moveTo>
                <a:lnTo>
                  <a:pt x="3747485" y="0"/>
                </a:lnTo>
                <a:lnTo>
                  <a:pt x="3747485" y="3372737"/>
                </a:lnTo>
                <a:lnTo>
                  <a:pt x="0" y="33727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825935" y="127246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27667" y="5621740"/>
            <a:ext cx="8043818" cy="246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professional online presence means how a person represents themselves on the internet in an academic or career-focused manner. It reflects a person’s skills, interests, behavior, and seriousness toward education or work.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0823" y="2112976"/>
            <a:ext cx="8846712" cy="211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23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PROFESSIONAL ONLINE PRESENCE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493863" y="689610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8712452" y="1414438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43817" y="1877341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1. Use Professional Platforms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profiles on platforms like LinkedIn, GitHub, or Kaggle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your real name and correct academic details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5156" y="424234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2. Share Educational and Skill-Based Content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about projects, learning achievements, or certifications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posting offensive, misleading, or inappropriate 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591406"/>
            <a:ext cx="10290567" cy="274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3. Communicate Respectfully Online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polite language in messages, comments, and emails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slang or informal tone in professional communication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409716" y="724030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8288000" y="824352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53550" y="1706908"/>
            <a:ext cx="11113566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4. Maintain a Professional </a:t>
            </a: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 simple and decent profile photo (optional)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Write a short, clear bio about your academic interests and goals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4889" y="400956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699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5. Be Careful About Digital Footprints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posted online can be seen later by teachers or employers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old posts and remove anything unprofessional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729833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dirty="0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6. Follow Ethical Online Behavior</a:t>
            </a: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C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 credit to others’ work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plagiarism and fake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-3396653" y="1114537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4"/>
                </a:lnTo>
                <a:lnTo>
                  <a:pt x="0" y="1857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8962748" y="7581900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215569" y="434844"/>
            <a:ext cx="2877290" cy="2877290"/>
          </a:xfrm>
          <a:custGeom>
            <a:avLst/>
            <a:gdLst/>
            <a:ahLst/>
            <a:cxnLst/>
            <a:rect l="l" t="t" r="r" b="b"/>
            <a:pathLst>
              <a:path w="2877290" h="2877290">
                <a:moveTo>
                  <a:pt x="0" y="0"/>
                </a:moveTo>
                <a:lnTo>
                  <a:pt x="2877291" y="0"/>
                </a:lnTo>
                <a:lnTo>
                  <a:pt x="2877291" y="2877290"/>
                </a:lnTo>
                <a:lnTo>
                  <a:pt x="0" y="287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19200" y="7468370"/>
            <a:ext cx="2631465" cy="2468793"/>
          </a:xfrm>
          <a:custGeom>
            <a:avLst/>
            <a:gdLst/>
            <a:ahLst/>
            <a:cxnLst/>
            <a:rect l="l" t="t" r="r" b="b"/>
            <a:pathLst>
              <a:path w="2631465" h="2468793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089396" y="4129016"/>
            <a:ext cx="8164531" cy="380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</a:pPr>
            <a:r>
              <a:rPr lang="en-US" sz="4508" i="1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Name-Vaibhav Naikwade</a:t>
            </a:r>
          </a:p>
          <a:p>
            <a:pPr algn="ctr">
              <a:lnSpc>
                <a:spcPts val="5951"/>
              </a:lnSpc>
            </a:pPr>
            <a:r>
              <a:rPr lang="en-US" sz="4508" i="1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REG NO:25BAI10507 </a:t>
            </a:r>
          </a:p>
          <a:p>
            <a:pPr algn="ctr">
              <a:lnSpc>
                <a:spcPts val="5951"/>
              </a:lnSpc>
            </a:pPr>
            <a:r>
              <a:rPr lang="en-US" sz="4508" i="1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Sub: Digital Literacy</a:t>
            </a:r>
          </a:p>
          <a:p>
            <a:pPr algn="ctr">
              <a:lnSpc>
                <a:spcPts val="5951"/>
              </a:lnSpc>
            </a:pPr>
            <a:r>
              <a:rPr lang="en-US" sz="4508" i="1" dirty="0">
                <a:solidFill>
                  <a:srgbClr val="FFFF00"/>
                </a:solidFill>
                <a:latin typeface="Inter"/>
                <a:ea typeface="Inter"/>
                <a:cs typeface="Inter"/>
                <a:sym typeface="Inter"/>
              </a:rPr>
              <a:t>Branch: CSE(AIML)</a:t>
            </a:r>
          </a:p>
          <a:p>
            <a:pPr algn="ctr">
              <a:lnSpc>
                <a:spcPts val="5951"/>
              </a:lnSpc>
            </a:pPr>
            <a:endParaRPr lang="en-US" sz="4508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8713" y="4341096"/>
            <a:ext cx="8235397" cy="201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37"/>
              </a:lnSpc>
            </a:pPr>
            <a:r>
              <a:rPr lang="en-US" sz="12771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453</Words>
  <Application>Microsoft Office PowerPoint</Application>
  <PresentationFormat>Custom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</vt:lpstr>
      <vt:lpstr>Retropix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White and Grey Pixelated Retro Interface Presentation</dc:title>
  <cp:lastModifiedBy>Vaibhav Naikwade</cp:lastModifiedBy>
  <cp:revision>2</cp:revision>
  <dcterms:created xsi:type="dcterms:W3CDTF">2006-08-16T00:00:00Z</dcterms:created>
  <dcterms:modified xsi:type="dcterms:W3CDTF">2026-03-28T13:23:55Z</dcterms:modified>
  <dc:identifier>DAHE959ARCM</dc:identifier>
</cp:coreProperties>
</file>